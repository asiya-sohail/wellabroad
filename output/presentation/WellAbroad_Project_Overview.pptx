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04594bc2d449a8" /><Relationship Type="http://schemas.openxmlformats.org/officeDocument/2006/relationships/extended-properties" Target="/docProps/app.xml" Id="R786baf4848ab434a" /><Relationship Type="http://schemas.openxmlformats.org/officeDocument/2006/relationships/officeDocument" Target="/ppt/presentation.xml" Id="R0c4403ac1ef44b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f439317014fa1"/>
  </p:sldMasterIdLst>
  <p:notesMasterIdLst>
    <p:notesMasterId xmlns:r="http://schemas.openxmlformats.org/officeDocument/2006/relationships" r:id="R9da080e771984540"/>
  </p:notesMasterIdLst>
  <p:sldIdLst>
    <p:sldId xmlns:r="http://schemas.openxmlformats.org/officeDocument/2006/relationships" id="256" r:id="R4c82b7359c1146dd"/>
    <p:sldId xmlns:r="http://schemas.openxmlformats.org/officeDocument/2006/relationships" id="257" r:id="R6430712737144eb6"/>
    <p:sldId xmlns:r="http://schemas.openxmlformats.org/officeDocument/2006/relationships" id="258" r:id="R7f587927157a4609"/>
    <p:sldId xmlns:r="http://schemas.openxmlformats.org/officeDocument/2006/relationships" id="259" r:id="R7efad5b9d9e8434b"/>
    <p:sldId xmlns:r="http://schemas.openxmlformats.org/officeDocument/2006/relationships" id="260" r:id="R6c573d6bfaa741f9"/>
    <p:sldId xmlns:r="http://schemas.openxmlformats.org/officeDocument/2006/relationships" id="261" r:id="R770de4fc72204277"/>
    <p:sldId xmlns:r="http://schemas.openxmlformats.org/officeDocument/2006/relationships" id="262" r:id="R492f3f9c5334458c"/>
    <p:sldId xmlns:r="http://schemas.openxmlformats.org/officeDocument/2006/relationships" id="263" r:id="R5534a6961c2540ad"/>
    <p:sldId xmlns:r="http://schemas.openxmlformats.org/officeDocument/2006/relationships" id="264" r:id="R6447f3c7113442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d7180fe71496e" /><Relationship Type="http://schemas.openxmlformats.org/officeDocument/2006/relationships/slideMaster" Target="/ppt/slideMasters/slideMaster1.xml" Id="Rd85f439317014fa1" /><Relationship Type="http://schemas.openxmlformats.org/officeDocument/2006/relationships/notesMaster" Target="/ppt/notesMasters/notesMaster1.xml" Id="R9da080e771984540" /><Relationship Type="http://schemas.openxmlformats.org/officeDocument/2006/relationships/presProps" Target="/ppt/presProps.xml" Id="R732ffd4440ef4db3" /><Relationship Type="http://schemas.openxmlformats.org/officeDocument/2006/relationships/tableStyles" Target="/ppt/tableStyles.xml" Id="R074de626bcb64a05" /><Relationship Type="http://schemas.openxmlformats.org/officeDocument/2006/relationships/slide" Target="/ppt/slides/slide1.xml" Id="R4c82b7359c1146dd" /><Relationship Type="http://schemas.openxmlformats.org/officeDocument/2006/relationships/slide" Target="/ppt/slides/slide2.xml" Id="R6430712737144eb6" /><Relationship Type="http://schemas.openxmlformats.org/officeDocument/2006/relationships/slide" Target="/ppt/slides/slide3.xml" Id="R7f587927157a4609" /><Relationship Type="http://schemas.openxmlformats.org/officeDocument/2006/relationships/slide" Target="/ppt/slides/slide4.xml" Id="R7efad5b9d9e8434b" /><Relationship Type="http://schemas.openxmlformats.org/officeDocument/2006/relationships/slide" Target="/ppt/slides/slide5.xml" Id="R6c573d6bfaa741f9" /><Relationship Type="http://schemas.openxmlformats.org/officeDocument/2006/relationships/slide" Target="/ppt/slides/slide6.xml" Id="R770de4fc72204277" /><Relationship Type="http://schemas.openxmlformats.org/officeDocument/2006/relationships/slide" Target="/ppt/slides/slide7.xml" Id="R492f3f9c5334458c" /><Relationship Type="http://schemas.openxmlformats.org/officeDocument/2006/relationships/slide" Target="/ppt/slides/slide8.xml" Id="R5534a6961c2540ad" /><Relationship Type="http://schemas.openxmlformats.org/officeDocument/2006/relationships/slide" Target="/ppt/slides/slide9.xml" Id="R6447f3c71134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d8e7b2008942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e44508e4546c6" /><Relationship Type="http://schemas.openxmlformats.org/officeDocument/2006/relationships/notesMaster" Target="/ppt/notesMasters/notesMaster1.xml" Id="Re5abbcaf66d34c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f8c8704b504cf4" /><Relationship Type="http://schemas.openxmlformats.org/officeDocument/2006/relationships/notesMaster" Target="/ppt/notesMasters/notesMaster1.xml" Id="Ra5ca9c665dc2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e220db616c4235" /><Relationship Type="http://schemas.openxmlformats.org/officeDocument/2006/relationships/notesMaster" Target="/ppt/notesMasters/notesMaster1.xml" Id="R0a65c3ee08f94f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11c3f64cf49c8" /><Relationship Type="http://schemas.openxmlformats.org/officeDocument/2006/relationships/notesMaster" Target="/ppt/notesMasters/notesMaster1.xml" Id="R4d144e3f0ae641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e91b517d994b4d" /><Relationship Type="http://schemas.openxmlformats.org/officeDocument/2006/relationships/notesMaster" Target="/ppt/notesMasters/notesMaster1.xml" Id="Rb678dc3033294e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af017311674442" /><Relationship Type="http://schemas.openxmlformats.org/officeDocument/2006/relationships/notesMaster" Target="/ppt/notesMasters/notesMaster1.xml" Id="R5f01b562b71342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2272860dcd4016" /><Relationship Type="http://schemas.openxmlformats.org/officeDocument/2006/relationships/notesMaster" Target="/ppt/notesMasters/notesMaster1.xml" Id="R75a982805b094b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70eb701be8461f" /><Relationship Type="http://schemas.openxmlformats.org/officeDocument/2006/relationships/notesMaster" Target="/ppt/notesMasters/notesMaster1.xml" Id="Rd7590902a1f94f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b34b048e5d4ffd" /><Relationship Type="http://schemas.openxmlformats.org/officeDocument/2006/relationships/notesMaster" Target="/ppt/notesMasters/notesMaster1.xml" Id="R68985c6e705544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purpose and feature description are based on the WellAbroad architecture guide supplied by the user (PDF, pages 1-2) and the project's frontend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traveler and language-barrier problem is described in the supplied architecture guide (page 1) and product copy in frontend/components/landing-page-section/ProblemSection.tsx.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 flow is implemented in frontend/app/documents/start/page.tsx and backend/app/routes/documents.py. Consultation API flow is in backend/app/routes/consultation.py. The consultation UI is not yet implemented in the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document page accepts PDF/JPEG/PNG/WebP/HEIC up to 20 MB and asks for the desired explanation language. Source: frontend/app/documents/start/page.tsx and backend/app/routes/documents.py.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Document Explainer prompt asks the agent to cite extracted fields, preserve values and uncertainty, and say when information is absent. Source: backend/app/services/orchestration.py and the supplied architecture guide (pages 6-8).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conversation, not a transcript from a live user. The backend starts with a chief-complaint question and reserves final slots for medications, allergies, and known conditions; skips are stored separately. Source: backend/app/routes/consultation.py and the supplied architecture guide (pages 8-10). The frontend symptom-question screen is still to be built.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consultation summary is generated in English, translated into the country’s local language and the traveler’s language, and includes skipped items. Source: backend/app/routes/consultation.py, backend/app/services/orchestration.py, backend/app/services/translation.py, and the supplied architecture guide (pages 8-10). These are backend capabilities; the frontend summary screen is not yet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WellAbroad helps people traveling abroad understand medical documents, describe symptoms, and prepare for a conversation with a care team. This summary focuses on the project’s intended value and main user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 and LinkedIn profile URLs provided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25a41ed6043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4f77a130142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7bace496f4a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b60352c8a4d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11d6d3aa342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6d751d588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341EAF-97D4-464D-B2DB-4E189E9F74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03FC50-6357-4D0D-914A-BF29A09F92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BD1CDF-F40B-41A3-994E-6D1528346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60616-5CDB-410A-BC08-A01C9E799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77DDBE-EB77-41A0-BBCA-5FCD7BA9BE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6A33BF-E271-4E63-898B-9433E3CAE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410F04-D2A0-43FE-968C-DEA47218CF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409A93-C730-4A19-8AC0-2469A429F0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088541-3D37-4314-BD63-2FF5CBFDD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86C6CB-B5F7-471C-AEE2-0458F1805B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138dfab404e07" /><Relationship Type="http://schemas.openxmlformats.org/officeDocument/2006/relationships/slideLayout" Target="/ppt/slideLayouts/slideLayout1.xml" Id="R43e01253a9974d2f" /><Relationship Type="http://schemas.openxmlformats.org/officeDocument/2006/relationships/slideLayout" Target="/ppt/slideLayouts/slideLayout2.xml" Id="Rb7af0e8d24944bab" /><Relationship Type="http://schemas.openxmlformats.org/officeDocument/2006/relationships/slideLayout" Target="/ppt/slideLayouts/slideLayout3.xml" Id="R89b4263177b94663" /><Relationship Type="http://schemas.openxmlformats.org/officeDocument/2006/relationships/slideLayout" Target="/ppt/slideLayouts/slideLayout4.xml" Id="R1e5550750eb6454b" /><Relationship Type="http://schemas.openxmlformats.org/officeDocument/2006/relationships/slideLayout" Target="/ppt/slideLayouts/slideLayout5.xml" Id="Ra6efe0c07a174620" /><Relationship Type="http://schemas.openxmlformats.org/officeDocument/2006/relationships/slideLayout" Target="/ppt/slideLayouts/slideLayout6.xml" Id="R6b22d88f4c4f49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01253a9974d2f"/>
    <p:sldLayoutId xmlns:r="http://schemas.openxmlformats.org/officeDocument/2006/relationships" id="2147483650" r:id="Rb7af0e8d24944bab"/>
    <p:sldLayoutId xmlns:r="http://schemas.openxmlformats.org/officeDocument/2006/relationships" id="2147483651" r:id="R89b4263177b94663"/>
    <p:sldLayoutId xmlns:r="http://schemas.openxmlformats.org/officeDocument/2006/relationships" id="2147483652" r:id="R1e5550750eb6454b"/>
    <p:sldLayoutId xmlns:r="http://schemas.openxmlformats.org/officeDocument/2006/relationships" id="2147483653" r:id="Ra6efe0c07a174620"/>
    <p:sldLayoutId xmlns:r="http://schemas.openxmlformats.org/officeDocument/2006/relationships" id="2147483654" r:id="R6b22d88f4c4f49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8dd76af284d51" /><Relationship Type="http://schemas.openxmlformats.org/officeDocument/2006/relationships/image" Target="/ppt/media/image.png" Id="R319716caef4d4515" /><Relationship Type="http://schemas.openxmlformats.org/officeDocument/2006/relationships/image" Target="/ppt/media/image.svg" Id="Rda6b4ea3c337451d" /><Relationship Type="http://schemas.openxmlformats.org/officeDocument/2006/relationships/notesSlide" Target="/ppt/notesSlides/notesSlide1.xml" Id="Rf77b9ac5a96440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7d8bdafb54d29" /><Relationship Type="http://schemas.openxmlformats.org/officeDocument/2006/relationships/image" Target="/ppt/media/image2.png" Id="Rb020992b58eb4922" /><Relationship Type="http://schemas.openxmlformats.org/officeDocument/2006/relationships/image" Target="/ppt/media/image2.svg" Id="R24e1fdc39d0d48d7" /><Relationship Type="http://schemas.openxmlformats.org/officeDocument/2006/relationships/notesSlide" Target="/ppt/notesSlides/notesSlide2.xml" Id="R26e56d213d8747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bf0ec2ea445f2" /><Relationship Type="http://schemas.openxmlformats.org/officeDocument/2006/relationships/image" Target="/ppt/media/image3.png" Id="R0369597fc5324e9f" /><Relationship Type="http://schemas.openxmlformats.org/officeDocument/2006/relationships/image" Target="/ppt/media/image3.svg" Id="Rc013cf9cc1a74af6" /><Relationship Type="http://schemas.openxmlformats.org/officeDocument/2006/relationships/notesSlide" Target="/ppt/notesSlides/notesSlide3.xml" Id="R3f19d52e652f42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845a9a0bf4db9" /><Relationship Type="http://schemas.openxmlformats.org/officeDocument/2006/relationships/image" Target="/ppt/media/image4.png" Id="Ra90f4538a3c94c23" /><Relationship Type="http://schemas.openxmlformats.org/officeDocument/2006/relationships/image" Target="/ppt/media/image4.svg" Id="Rf7b87b0605a14b94" /><Relationship Type="http://schemas.openxmlformats.org/officeDocument/2006/relationships/notesSlide" Target="/ppt/notesSlides/notesSlide4.xml" Id="R8cb756843e5449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c95f4f6f14501" /><Relationship Type="http://schemas.openxmlformats.org/officeDocument/2006/relationships/image" Target="/ppt/media/image5.png" Id="R46df29e2be564ca5" /><Relationship Type="http://schemas.openxmlformats.org/officeDocument/2006/relationships/image" Target="/ppt/media/image5.svg" Id="R7ec8e4c4a2fd4dd7" /><Relationship Type="http://schemas.openxmlformats.org/officeDocument/2006/relationships/notesSlide" Target="/ppt/notesSlides/notesSlide5.xml" Id="R6b4126e1ead0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c393e0bff4f26" /><Relationship Type="http://schemas.openxmlformats.org/officeDocument/2006/relationships/image" Target="/ppt/media/image6.png" Id="R2705fadc42184f36" /><Relationship Type="http://schemas.openxmlformats.org/officeDocument/2006/relationships/image" Target="/ppt/media/image6.svg" Id="R7c2b9bbba58d45df" /><Relationship Type="http://schemas.openxmlformats.org/officeDocument/2006/relationships/notesSlide" Target="/ppt/notesSlides/notesSlide6.xml" Id="Redf14f3d2c7c4b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8d3656fdc48eb" /><Relationship Type="http://schemas.openxmlformats.org/officeDocument/2006/relationships/image" Target="/ppt/media/image7.png" Id="R1d13a918abcd4485" /><Relationship Type="http://schemas.openxmlformats.org/officeDocument/2006/relationships/image" Target="/ppt/media/image7.svg" Id="Rbd43e3de42c74746" /><Relationship Type="http://schemas.openxmlformats.org/officeDocument/2006/relationships/notesSlide" Target="/ppt/notesSlides/notesSlide7.xml" Id="R49d729996ed8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5c930bece4c63" /><Relationship Type="http://schemas.openxmlformats.org/officeDocument/2006/relationships/image" Target="/ppt/media/image8.png" Id="Rd677bb1ff9684981" /><Relationship Type="http://schemas.openxmlformats.org/officeDocument/2006/relationships/image" Target="/ppt/media/image8.svg" Id="Ra054c2a5b31c4ae9" /><Relationship Type="http://schemas.openxmlformats.org/officeDocument/2006/relationships/notesSlide" Target="/ppt/notesSlides/notesSlide8.xml" Id="R779ce87b40934d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523060ba64e31" /><Relationship Type="http://schemas.openxmlformats.org/officeDocument/2006/relationships/image" Target="/ppt/media/image9.png" Id="R7a329acf8d684c77" /><Relationship Type="http://schemas.openxmlformats.org/officeDocument/2006/relationships/image" Target="/ppt/media/image9.svg" Id="R78b1b9747f904c10" /><Relationship Type="http://schemas.openxmlformats.org/officeDocument/2006/relationships/notesSlide" Target="/ppt/notesSlides/notesSlide9.xml" Id="R62fea0036fba42c4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6FFF1"/>
            </a:gs>
            <a:gs pos="52000">
              <a:srgbClr val="F1F7F3"/>
            </a:gs>
            <a:gs pos="100000">
              <a:srgbClr val="BDEEDB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8452B-0CAE-40FB-8AA3-CAF30C104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716caef4d4515">
            <a:extLst>
              <a:ext uri="{96DAC541-7B7A-43D3-8B79-37D633B846F1}">
                <asvg:svgBlip xmlns:asvg="http://schemas.microsoft.com/office/drawing/2016/SVG/main" r:embed="Rda6b4ea3c33745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628650"/>
            <a:ext cx="514350" cy="534924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23E8BA9E-D344-46DF-B735-13F5109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52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WELLABROAD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3725A5-B621-4D56-B598-814E5F53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46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Healthcare is hard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46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when words get in the way.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F029569-A901-414F-8A48-B3EE11DF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7096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5E6661"/>
                </a:solidFill>
                <a:latin typeface="Inter"/>
                <a:ea typeface="Inter"/>
                <a:cs typeface="Inter"/>
              </a:rPr>
              <a:t>WellAbroad helps travelers understand medical documents and explain how they feel in a language their care team can understand.</a:t>
            </a:r>
          </a:p>
        </p:txBody>
      </p:sp>
      <p:sp>
        <p:nvSpPr>
          <p:cNvPr id="5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404426F-4948-4FF6-B1FB-DDFFF951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A communication aid for care abroad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81562ED6-F829-4155-BD81-7078B51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4675A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C0BD767D-2057-4DE7-8785-3F8FA28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4675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0245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849AF-49B0-4E28-9249-2F0951E0B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0992b58eb4922">
            <a:extLst>
              <a:ext uri="{96DAC541-7B7A-43D3-8B79-37D633B846F1}">
                <asvg:svgBlip xmlns:asvg="http://schemas.microsoft.com/office/drawing/2016/SVG/main" r:embed="R24e1fdc39d0d48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1400EDAD-2608-41C7-94F1-AA5F8815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THE PROBLEM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04225959-4534-45E9-93F5-6ED0C958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 clinic visit is harder when you can’t be understood.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4208F6D8-5CC3-4838-894B-6AF63BB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E6661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2E82AA47-AF68-4507-B14C-E1A320F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5E666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6" name="problem-01">
            <a:extLst xmlns:a="http://schemas.openxmlformats.org/drawingml/2006/main">
              <a:ext uri="{FF2B5EF4-FFF2-40B4-BE49-F238E27FC236}">
                <a16:creationId xmlns:a16="http://schemas.microsoft.com/office/drawing/2014/main" id="{EB7102ED-08C2-46E5-9201-DC011741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defPPr>
            <a:lvl1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1pPr>
            <a:lvl2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2pPr>
            <a:lvl3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3pPr>
            <a:lvl4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4pPr>
            <a:lvl5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5pPr>
            <a:lvl6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6pPr>
            <a:lvl7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7pPr>
            <a:lvl8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8pPr>
            <a:lvl9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7ACE9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2D7F078A-C196-41E5-A41D-81BED4F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 report you can’t read</a:t>
            </a:r>
          </a:p>
        </p:txBody>
      </p:sp>
      <p:sp>
        <p:nvSpPr>
          <p:cNvPr id="8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20F2608F-E7E7-4A6C-B905-D01D1D8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000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E6661"/>
                </a:solidFill>
                <a:latin typeface="Inter"/>
                <a:ea typeface="Inter"/>
                <a:cs typeface="Inter"/>
              </a:rPr>
              <a:t>Medical terms and unfamiliar languages make important details easy to miss.</a:t>
            </a:r>
          </a:p>
        </p:txBody>
      </p:sp>
      <p:sp>
        <p:nvSpPr>
          <p:cNvPr id="9" name="problem-02">
            <a:extLst xmlns:a="http://schemas.openxmlformats.org/drawingml/2006/main">
              <a:ext uri="{FF2B5EF4-FFF2-40B4-BE49-F238E27FC236}">
                <a16:creationId xmlns:a16="http://schemas.microsoft.com/office/drawing/2014/main" id="{5617D933-DB35-47E5-913B-0EE257C1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765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defPPr>
            <a:lvl1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1pPr>
            <a:lvl2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2pPr>
            <a:lvl3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3pPr>
            <a:lvl4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4pPr>
            <a:lvl5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5pPr>
            <a:lvl6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6pPr>
            <a:lvl7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7pPr>
            <a:lvl8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8pPr>
            <a:lvl9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7ACE9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7E3BC17E-1A98-4D1E-B51D-4C04B19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Symptoms you can’t explain</a:t>
            </a:r>
          </a:p>
        </p:txBody>
      </p:sp>
      <p:sp>
        <p:nvSpPr>
          <p:cNvPr id="11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AC9956BA-925B-47F5-B1A3-E9C744DA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3000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E6661"/>
                </a:solidFill>
                <a:latin typeface="Inter"/>
                <a:ea typeface="Inter"/>
                <a:cs typeface="Inter"/>
              </a:rPr>
              <a:t>It is hard to describe what hurts, when it began, and what has changed.</a:t>
            </a:r>
          </a:p>
        </p:txBody>
      </p:sp>
      <p:sp>
        <p:nvSpPr>
          <p:cNvPr id="12" name="problem-03">
            <a:extLst xmlns:a="http://schemas.openxmlformats.org/drawingml/2006/main">
              <a:ext uri="{FF2B5EF4-FFF2-40B4-BE49-F238E27FC236}">
                <a16:creationId xmlns:a16="http://schemas.microsoft.com/office/drawing/2014/main" id="{BCB802EE-C07D-4DBA-9545-FA43E336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defPPr>
            <a:lvl1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1pPr>
            <a:lvl2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2pPr>
            <a:lvl3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3pPr>
            <a:lvl4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4pPr>
            <a:lvl5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5pPr>
            <a:lvl6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6pPr>
            <a:lvl7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7pPr>
            <a:lvl8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8pPr>
            <a:lvl9pPr algn="l"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7ACE9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16FEA92-83AD-4542-869E-AFBFB9C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Details left out</a:t>
            </a:r>
          </a:p>
        </p:txBody>
      </p:sp>
      <p:sp>
        <p:nvSpPr>
          <p:cNvPr id="14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17811190-FDFF-4C3F-9AF4-51CC1D4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000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E6661"/>
                </a:solidFill>
                <a:latin typeface="Inter"/>
                <a:ea typeface="Inter"/>
                <a:cs typeface="Inter"/>
              </a:rPr>
              <a:t>Stress makes it easy to forget medicines, allergies, or other key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5579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95776-20EF-4EBE-84D6-9525803531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9597fc5324e9f">
            <a:extLst>
              <a:ext uri="{96DAC541-7B7A-43D3-8B79-37D633B846F1}">
                <asvg:svgBlip xmlns:asvg="http://schemas.microsoft.com/office/drawing/2016/SVG/main" r:embed="Rc013cf9cc1a74a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EC7EC654-6B19-4BA0-BD29-701028A1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WHAT WELLABROAD DOES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FAD6418D-6766-4EAC-94E1-6379BF9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Two moments. One simple goal: be understood.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35018929-8740-44A4-B23C-E0071A3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4675A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89AAB0E0-EA10-4226-9BD4-EDD970B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4675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6" name="doc-flow-label">
            <a:extLst xmlns:a="http://schemas.openxmlformats.org/drawingml/2006/main">
              <a:ext uri="{FF2B5EF4-FFF2-40B4-BE49-F238E27FC236}">
                <a16:creationId xmlns:a16="http://schemas.microsoft.com/office/drawing/2014/main" id="{638B1BD4-52C2-4549-BB55-82DB6D3A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01  DOCUMENT EXPLAINER</a:t>
            </a:r>
          </a:p>
        </p:txBody>
      </p:sp>
      <p:sp>
        <p:nvSpPr>
          <p:cNvPr id="7" name="doc-flow-title">
            <a:extLst xmlns:a="http://schemas.openxmlformats.org/drawingml/2006/main">
              <a:ext uri="{FF2B5EF4-FFF2-40B4-BE49-F238E27FC236}">
                <a16:creationId xmlns:a16="http://schemas.microsoft.com/office/drawing/2014/main" id="{EF908455-B51A-4D19-9055-D5B5F812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Understand what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your document says.</a:t>
            </a:r>
          </a:p>
        </p:txBody>
      </p:sp>
      <p:sp>
        <p:nvSpPr>
          <p:cNvPr id="8" name="doc-flow-body">
            <a:extLst xmlns:a="http://schemas.openxmlformats.org/drawingml/2006/main">
              <a:ext uri="{FF2B5EF4-FFF2-40B4-BE49-F238E27FC236}">
                <a16:creationId xmlns:a16="http://schemas.microsoft.com/office/drawing/2014/main" id="{3F0AA62E-EBBF-48AA-B371-BA14823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5E6661"/>
                </a:solidFill>
                <a:latin typeface="Inter"/>
                <a:ea typeface="Inter"/>
                <a:cs typeface="Inter"/>
              </a:rPr>
              <a:t>Upload a photo or PDF. Get a plain-language explanation. Ask a follow-up question.</a:t>
            </a:r>
          </a:p>
        </p:txBody>
      </p:sp>
      <p:sp>
        <p:nvSpPr>
          <p:cNvPr id="9" name="consult-flow-label">
            <a:extLst xmlns:a="http://schemas.openxmlformats.org/drawingml/2006/main">
              <a:ext uri="{FF2B5EF4-FFF2-40B4-BE49-F238E27FC236}">
                <a16:creationId xmlns:a16="http://schemas.microsoft.com/office/drawing/2014/main" id="{FD15B051-74B3-48A2-B469-573CED7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02  CONSULTATION PREP</a:t>
            </a:r>
          </a:p>
        </p:txBody>
      </p:sp>
      <p:sp>
        <p:nvSpPr>
          <p:cNvPr id="10" name="consult-flow-title">
            <a:extLst xmlns:a="http://schemas.openxmlformats.org/drawingml/2006/main">
              <a:ext uri="{FF2B5EF4-FFF2-40B4-BE49-F238E27FC236}">
                <a16:creationId xmlns:a16="http://schemas.microsoft.com/office/drawing/2014/main" id="{4D1CB43A-BFDD-4F85-9D24-9A2C097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Explain how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you feel.</a:t>
            </a:r>
          </a:p>
        </p:txBody>
      </p:sp>
      <p:sp>
        <p:nvSpPr>
          <p:cNvPr id="11" name="consult-flow-body">
            <a:extLst xmlns:a="http://schemas.openxmlformats.org/drawingml/2006/main">
              <a:ext uri="{FF2B5EF4-FFF2-40B4-BE49-F238E27FC236}">
                <a16:creationId xmlns:a16="http://schemas.microsoft.com/office/drawing/2014/main" id="{6750D4C4-D217-4233-885A-4FF8C36A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5E6661"/>
                </a:solidFill>
                <a:latin typeface="Inter"/>
                <a:ea typeface="Inter"/>
                <a:cs typeface="Inter"/>
              </a:rPr>
              <a:t>Answer simple guided questions. Skip what you don’t know. Prepare a note for a clinician.</a:t>
            </a:r>
          </a:p>
        </p:txBody>
      </p:sp>
    </p:spTree>
    <p:extLst>
      <p:ext uri="{BB962C8B-B14F-4D97-AF65-F5344CB8AC3E}">
        <p14:creationId xmlns:p14="http://schemas.microsoft.com/office/powerpoint/2010/main" val="1208098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88477-0EA1-4AF8-9A2B-AFE8C1325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f4538a3c94c23">
            <a:extLst>
              <a:ext uri="{96DAC541-7B7A-43D3-8B79-37D633B846F1}">
                <asvg:svgBlip xmlns:asvg="http://schemas.microsoft.com/office/drawing/2016/SVG/main" r:embed="Rf7b87b0605a14b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A9441940-A113-47E7-963C-3FAF1044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FEATURE 1 · UPLOAD AND EXPLAIN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45F8E540-1A8F-4DF8-B326-98F765B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Start with the document you have.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DE2B85DF-015D-4ED9-A292-FEBD33FD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E6661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CFE6084-EEFA-4D2B-8AC8-59E96415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5E666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6" name="upload-step-1">
            <a:extLst xmlns:a="http://schemas.openxmlformats.org/drawingml/2006/main">
              <a:ext uri="{FF2B5EF4-FFF2-40B4-BE49-F238E27FC236}">
                <a16:creationId xmlns:a16="http://schemas.microsoft.com/office/drawing/2014/main" id="{067E3A28-2EF8-4EDB-8436-EE5C878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defPPr>
            <a:lvl1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1pPr>
            <a:lvl2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2pPr>
            <a:lvl3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3pPr>
            <a:lvl4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4pPr>
            <a:lvl5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5pPr>
            <a:lvl6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6pPr>
            <a:lvl7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7pPr>
            <a:lvl8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8pPr>
            <a:lvl9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7ACE9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upload-title-1">
            <a:extLst xmlns:a="http://schemas.openxmlformats.org/drawingml/2006/main">
              <a:ext uri="{FF2B5EF4-FFF2-40B4-BE49-F238E27FC236}">
                <a16:creationId xmlns:a16="http://schemas.microsoft.com/office/drawing/2014/main" id="{DEAB716D-08E4-46B8-A029-CB223F65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Choose a language</a:t>
            </a:r>
          </a:p>
        </p:txBody>
      </p:sp>
      <p:sp>
        <p:nvSpPr>
          <p:cNvPr id="8" name="upload-body-1">
            <a:extLst xmlns:a="http://schemas.openxmlformats.org/drawingml/2006/main">
              <a:ext uri="{FF2B5EF4-FFF2-40B4-BE49-F238E27FC236}">
                <a16:creationId xmlns:a16="http://schemas.microsoft.com/office/drawing/2014/main" id="{510F1C5B-32CA-4D30-9B24-2A5B36C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E6661"/>
                </a:solidFill>
                <a:latin typeface="Inter"/>
                <a:ea typeface="Inter"/>
                <a:cs typeface="Inter"/>
              </a:rPr>
              <a:t>Pick the language you want the explanation in.</a:t>
            </a:r>
          </a:p>
        </p:txBody>
      </p:sp>
      <p:sp>
        <p:nvSpPr>
          <p:cNvPr id="9" name="upload-step-2">
            <a:extLst xmlns:a="http://schemas.openxmlformats.org/drawingml/2006/main">
              <a:ext uri="{FF2B5EF4-FFF2-40B4-BE49-F238E27FC236}">
                <a16:creationId xmlns:a16="http://schemas.microsoft.com/office/drawing/2014/main" id="{0B15C8ED-FC01-42F1-817F-2AF39BDE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defPPr>
            <a:lvl1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1pPr>
            <a:lvl2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2pPr>
            <a:lvl3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3pPr>
            <a:lvl4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4pPr>
            <a:lvl5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5pPr>
            <a:lvl6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6pPr>
            <a:lvl7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7pPr>
            <a:lvl8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8pPr>
            <a:lvl9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7ACE9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upload-title-2">
            <a:extLst xmlns:a="http://schemas.openxmlformats.org/drawingml/2006/main">
              <a:ext uri="{FF2B5EF4-FFF2-40B4-BE49-F238E27FC236}">
                <a16:creationId xmlns:a16="http://schemas.microsoft.com/office/drawing/2014/main" id="{23B42798-B056-4E8D-BA8E-5B70894A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Upload a photo or PDF</a:t>
            </a:r>
          </a:p>
        </p:txBody>
      </p:sp>
      <p:sp>
        <p:nvSpPr>
          <p:cNvPr id="11" name="upload-body-2">
            <a:extLst xmlns:a="http://schemas.openxmlformats.org/drawingml/2006/main">
              <a:ext uri="{FF2B5EF4-FFF2-40B4-BE49-F238E27FC236}">
                <a16:creationId xmlns:a16="http://schemas.microsoft.com/office/drawing/2014/main" id="{F67D2E75-34BE-4547-BAFD-059CDA7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E6661"/>
                </a:solidFill>
                <a:latin typeface="Inter"/>
                <a:ea typeface="Inter"/>
                <a:cs typeface="Inter"/>
              </a:rPr>
              <a:t>Use a clear image of a report, prescription, or note.</a:t>
            </a:r>
          </a:p>
        </p:txBody>
      </p:sp>
      <p:sp>
        <p:nvSpPr>
          <p:cNvPr id="12" name="upload-step-3">
            <a:extLst xmlns:a="http://schemas.openxmlformats.org/drawingml/2006/main">
              <a:ext uri="{FF2B5EF4-FFF2-40B4-BE49-F238E27FC236}">
                <a16:creationId xmlns:a16="http://schemas.microsoft.com/office/drawing/2014/main" id="{0408B484-8663-431F-85EC-F3E7181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defPPr>
            <a:lvl1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1pPr>
            <a:lvl2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2pPr>
            <a:lvl3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3pPr>
            <a:lvl4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4pPr>
            <a:lvl5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5pPr>
            <a:lvl6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6pPr>
            <a:lvl7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7pPr>
            <a:lvl8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8pPr>
            <a:lvl9pPr algn="l"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1">
                <a:solidFill>
                  <a:srgbClr val="7ACE9A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7ACE9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upload-title-3">
            <a:extLst xmlns:a="http://schemas.openxmlformats.org/drawingml/2006/main">
              <a:ext uri="{FF2B5EF4-FFF2-40B4-BE49-F238E27FC236}">
                <a16:creationId xmlns:a16="http://schemas.microsoft.com/office/drawing/2014/main" id="{81C5E1C6-8873-4D9E-B233-188BF9F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Read the explanation</a:t>
            </a:r>
          </a:p>
        </p:txBody>
      </p:sp>
      <p:sp>
        <p:nvSpPr>
          <p:cNvPr id="14" name="upload-body-3">
            <a:extLst xmlns:a="http://schemas.openxmlformats.org/drawingml/2006/main">
              <a:ext uri="{FF2B5EF4-FFF2-40B4-BE49-F238E27FC236}">
                <a16:creationId xmlns:a16="http://schemas.microsoft.com/office/drawing/2014/main" id="{9859D002-097E-408C-B5B3-087525D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25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E6661"/>
                </a:solidFill>
                <a:latin typeface="Inter"/>
                <a:ea typeface="Inter"/>
                <a:cs typeface="Inter"/>
              </a:rPr>
              <a:t>Unclear sections are called out instead of guessed.</a:t>
            </a:r>
          </a:p>
        </p:txBody>
      </p:sp>
    </p:spTree>
    <p:extLst>
      <p:ext uri="{BB962C8B-B14F-4D97-AF65-F5344CB8AC3E}">
        <p14:creationId xmlns:p14="http://schemas.microsoft.com/office/powerpoint/2010/main" val="1678998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2FF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2B71B-BDBE-4EAD-86C5-82525448D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f29e2be564ca5">
            <a:extLst>
              <a:ext uri="{96DAC541-7B7A-43D3-8B79-37D633B846F1}">
                <asvg:svgBlip xmlns:asvg="http://schemas.microsoft.com/office/drawing/2016/SVG/main" r:embed="R7ec8e4c4a2fd4d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063740C0-6942-45CA-8DA4-00C269EE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FEATURE 1 · FOLLOW-UP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E887E38-ADD5-4CEC-B527-80EACCB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 useful explanation stays close to the source.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E8C13EC7-0316-4296-A9C0-6E3ABB3B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4675A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1751A3C-67F2-4C7C-A9BC-E678C41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4675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6" name="doc-label">
            <a:extLst xmlns:a="http://schemas.openxmlformats.org/drawingml/2006/main">
              <a:ext uri="{FF2B5EF4-FFF2-40B4-BE49-F238E27FC236}">
                <a16:creationId xmlns:a16="http://schemas.microsoft.com/office/drawing/2014/main" id="{D6800305-B02B-4297-8ED4-AFAC63D6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  <p:sp>
        <p:nvSpPr>
          <p:cNvPr id="7" name="doc-source">
            <a:extLst xmlns:a="http://schemas.openxmlformats.org/drawingml/2006/main">
              <a:ext uri="{FF2B5EF4-FFF2-40B4-BE49-F238E27FC236}">
                <a16:creationId xmlns:a16="http://schemas.microsoft.com/office/drawing/2014/main" id="{282EF242-8A66-4B89-82B5-5871EBE6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The words on the page</a:t>
            </a:r>
          </a:p>
        </p:txBody>
      </p:sp>
      <p:sp>
        <p:nvSpPr>
          <p:cNvPr id="8" name="doc-arrow">
            <a:extLst xmlns:a="http://schemas.openxmlformats.org/drawingml/2006/main">
              <a:ext uri="{FF2B5EF4-FFF2-40B4-BE49-F238E27FC236}">
                <a16:creationId xmlns:a16="http://schemas.microsoft.com/office/drawing/2014/main" id="{24BE9BC6-9648-47B8-9DFB-4579CA0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7192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ctr"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9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3A6E9A07-20FC-4B2F-9554-9D91208E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PLAIN-LANGUAGE EXPLANATION</a:t>
            </a:r>
          </a:p>
        </p:txBody>
      </p:sp>
      <p:sp>
        <p:nvSpPr>
          <p:cNvPr id="10" name="explanation-title">
            <a:extLst xmlns:a="http://schemas.openxmlformats.org/drawingml/2006/main">
              <a:ext uri="{FF2B5EF4-FFF2-40B4-BE49-F238E27FC236}">
                <a16:creationId xmlns:a16="http://schemas.microsoft.com/office/drawing/2014/main" id="{8B675102-4F5E-437E-B25B-E21EDE46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What it says, in simpler words</a:t>
            </a:r>
          </a:p>
        </p:txBody>
      </p:sp>
      <p:sp>
        <p:nvSpPr>
          <p:cNvPr id="11" name="followup-label">
            <a:extLst xmlns:a="http://schemas.openxmlformats.org/drawingml/2006/main">
              <a:ext uri="{FF2B5EF4-FFF2-40B4-BE49-F238E27FC236}">
                <a16:creationId xmlns:a16="http://schemas.microsoft.com/office/drawing/2014/main" id="{6E0BEE08-5B05-4BFF-9668-53E2C69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FOLLOW UP</a:t>
            </a:r>
          </a:p>
        </p:txBody>
      </p:sp>
      <p:sp>
        <p:nvSpPr>
          <p:cNvPr id="12" name="followup-question">
            <a:extLst xmlns:a="http://schemas.openxmlformats.org/drawingml/2006/main">
              <a:ext uri="{FF2B5EF4-FFF2-40B4-BE49-F238E27FC236}">
                <a16:creationId xmlns:a16="http://schemas.microsoft.com/office/drawing/2014/main" id="{786C365E-249A-440C-854B-5A52858F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“What does this section mean?”</a:t>
            </a:r>
          </a:p>
        </p:txBody>
      </p:sp>
      <p:sp>
        <p:nvSpPr>
          <p:cNvPr id="13" name="followup-body">
            <a:extLst xmlns:a="http://schemas.openxmlformats.org/drawingml/2006/main">
              <a:ext uri="{FF2B5EF4-FFF2-40B4-BE49-F238E27FC236}">
                <a16:creationId xmlns:a16="http://schemas.microsoft.com/office/drawing/2014/main" id="{7EE565FC-7D4D-42A8-B96E-98AA8F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191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5E6661"/>
                </a:solidFill>
                <a:latin typeface="Inter"/>
                <a:ea typeface="Inter"/>
                <a:cs typeface="Inter"/>
              </a:rPr>
              <a:t>Ask about the document. If the answer isn’t in it, WellAbroad should say so and point you back to a clinician or pharmacist.</a:t>
            </a:r>
          </a:p>
        </p:txBody>
      </p:sp>
    </p:spTree>
    <p:extLst>
      <p:ext uri="{BB962C8B-B14F-4D97-AF65-F5344CB8AC3E}">
        <p14:creationId xmlns:p14="http://schemas.microsoft.com/office/powerpoint/2010/main" val="1101751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5335C-0D20-47FB-A312-EC66AB585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5fadc42184f36">
            <a:extLst>
              <a:ext uri="{96DAC541-7B7A-43D3-8B79-37D633B846F1}">
                <asvg:svgBlip xmlns:asvg="http://schemas.microsoft.com/office/drawing/2016/SVG/main" r:embed="R7c2b9bbba58d45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D3A1A23F-BCA6-4359-AD1A-4D8CDA6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FEATURE 2 · CONSULTATION PREP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7A88B25-2F38-496F-9A2E-755F2074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3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One question at a time. In the traveler’s own words.</a:t>
            </a:r>
          </a:p>
        </p:txBody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5F1FAEED-4E88-4C1B-8CA2-F593F9E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E6661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F7EC114C-7EB5-4CF9-B39D-BE428FF3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5E6661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6" name="q1-label">
            <a:extLst xmlns:a="http://schemas.openxmlformats.org/drawingml/2006/main">
              <a:ext uri="{FF2B5EF4-FFF2-40B4-BE49-F238E27FC236}">
                <a16:creationId xmlns:a16="http://schemas.microsoft.com/office/drawing/2014/main" id="{3FC12565-9A73-40B7-8B22-BCBBBEF7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WELLABROAD</a:t>
            </a:r>
          </a:p>
        </p:txBody>
      </p:sp>
      <p:sp>
        <p:nvSpPr>
          <p:cNvPr id="7" name="q1">
            <a:extLst xmlns:a="http://schemas.openxmlformats.org/drawingml/2006/main">
              <a:ext uri="{FF2B5EF4-FFF2-40B4-BE49-F238E27FC236}">
                <a16:creationId xmlns:a16="http://schemas.microsoft.com/office/drawing/2014/main" id="{87A64197-070F-48D4-96D2-6C17786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What is bothering you most right now?</a:t>
            </a:r>
          </a:p>
        </p:txBody>
      </p:sp>
      <p:sp>
        <p:nvSpPr>
          <p:cNvPr id="8" name="a1-label">
            <a:extLst xmlns:a="http://schemas.openxmlformats.org/drawingml/2006/main">
              <a:ext uri="{FF2B5EF4-FFF2-40B4-BE49-F238E27FC236}">
                <a16:creationId xmlns:a16="http://schemas.microsoft.com/office/drawing/2014/main" id="{A6EE3A97-099F-42DB-860A-832A026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TRAVELER</a:t>
            </a:r>
          </a:p>
        </p:txBody>
      </p:sp>
      <p:sp>
        <p:nvSpPr>
          <p:cNvPr id="9" name="a1">
            <a:extLst xmlns:a="http://schemas.openxmlformats.org/drawingml/2006/main">
              <a:ext uri="{FF2B5EF4-FFF2-40B4-BE49-F238E27FC236}">
                <a16:creationId xmlns:a16="http://schemas.microsoft.com/office/drawing/2014/main" id="{D5B9B2E8-0AA3-4038-A63F-FF373BF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202321"/>
                </a:solidFill>
                <a:latin typeface="Inter"/>
                <a:ea typeface="Inter"/>
                <a:cs typeface="Inter"/>
              </a:rPr>
              <a:t>I have had a headache since yesterday.</a:t>
            </a:r>
          </a:p>
        </p:txBody>
      </p:sp>
      <p:sp>
        <p:nvSpPr>
          <p:cNvPr id="10" name="q2-label">
            <a:extLst xmlns:a="http://schemas.openxmlformats.org/drawingml/2006/main">
              <a:ext uri="{FF2B5EF4-FFF2-40B4-BE49-F238E27FC236}">
                <a16:creationId xmlns:a16="http://schemas.microsoft.com/office/drawing/2014/main" id="{B9321918-2DD3-4015-AE0B-563EAECD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0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WELLABROAD</a:t>
            </a:r>
          </a:p>
        </p:txBody>
      </p:sp>
      <p:sp>
        <p:nvSpPr>
          <p:cNvPr id="11" name="q2">
            <a:extLst xmlns:a="http://schemas.openxmlformats.org/drawingml/2006/main">
              <a:ext uri="{FF2B5EF4-FFF2-40B4-BE49-F238E27FC236}">
                <a16:creationId xmlns:a16="http://schemas.microsoft.com/office/drawing/2014/main" id="{E887EBC2-802D-407A-ABA5-A37D85A6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When did it start? How severe is it?</a:t>
            </a:r>
          </a:p>
        </p:txBody>
      </p:sp>
      <p:sp>
        <p:nvSpPr>
          <p:cNvPr id="12" name="a2-label">
            <a:extLst xmlns:a="http://schemas.openxmlformats.org/drawingml/2006/main">
              <a:ext uri="{FF2B5EF4-FFF2-40B4-BE49-F238E27FC236}">
                <a16:creationId xmlns:a16="http://schemas.microsoft.com/office/drawing/2014/main" id="{A86A7F27-0E86-4669-8E74-1413687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TRAVELER</a:t>
            </a:r>
          </a:p>
        </p:txBody>
      </p:sp>
      <p:sp>
        <p:nvSpPr>
          <p:cNvPr id="13" name="a2">
            <a:extLst xmlns:a="http://schemas.openxmlformats.org/drawingml/2006/main">
              <a:ext uri="{FF2B5EF4-FFF2-40B4-BE49-F238E27FC236}">
                <a16:creationId xmlns:a16="http://schemas.microsoft.com/office/drawing/2014/main" id="{C212F032-1AC9-4B28-A1B6-549679A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148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defPPr>
            <a:lvl1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1pPr>
            <a:lvl2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2pPr>
            <a:lvl3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3pPr>
            <a:lvl4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4pPr>
            <a:lvl5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5pPr>
            <a:lvl6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6pPr>
            <a:lvl7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7pPr>
            <a:lvl8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8pPr>
            <a:lvl9pPr algn="l"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5E6661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5E6661"/>
                </a:solidFill>
                <a:latin typeface="Inter"/>
                <a:ea typeface="Inter"/>
                <a:cs typeface="Inter"/>
              </a:rPr>
              <a:t>Answer, or skip a question. A skip stays “not provided” - it never becomes “no.”</a:t>
            </a:r>
          </a:p>
        </p:txBody>
      </p:sp>
      <p:sp>
        <p:nvSpPr>
          <p:cNvPr id="14" name="mandatory-questions">
            <a:extLst xmlns:a="http://schemas.openxmlformats.org/drawingml/2006/main">
              <a:ext uri="{FF2B5EF4-FFF2-40B4-BE49-F238E27FC236}">
                <a16:creationId xmlns:a16="http://schemas.microsoft.com/office/drawing/2014/main" id="{FC59C4D4-381D-4AD7-A67A-1D87805C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923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The final questions cover current medicines, allergies, and known conditions.</a:t>
            </a:r>
          </a:p>
        </p:txBody>
      </p:sp>
    </p:spTree>
    <p:extLst>
      <p:ext uri="{BB962C8B-B14F-4D97-AF65-F5344CB8AC3E}">
        <p14:creationId xmlns:p14="http://schemas.microsoft.com/office/powerpoint/2010/main" val="747421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BF194-F932-48FB-8C8D-677544224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3a918abcd4485">
            <a:extLst>
              <a:ext uri="{96DAC541-7B7A-43D3-8B79-37D633B846F1}">
                <asvg:svgBlip xmlns:asvg="http://schemas.microsoft.com/office/drawing/2016/SVG/main" r:embed="Rbd43e3de42c747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EDFDC26F-D6C4-43ED-BEC6-1F0077D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AFTER THE QUESTIONS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341E093-6982-422F-B908-9934644C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Leave with a clear note for the clinician.</a:t>
            </a:r>
          </a:p>
        </p:txBody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6BCA7C50-EC1F-4EB9-BA78-9F01C58B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4675A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84711162-AC42-4EAD-8E13-F57D8EC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4675A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6" name="summary-l1">
            <a:extLst xmlns:a="http://schemas.openxmlformats.org/drawingml/2006/main">
              <a:ext uri="{FF2B5EF4-FFF2-40B4-BE49-F238E27FC236}">
                <a16:creationId xmlns:a16="http://schemas.microsoft.com/office/drawing/2014/main" id="{439AF3E7-8A5B-4D47-ABD0-8BD3748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COMPLAINT</a:t>
            </a:r>
          </a:p>
        </p:txBody>
      </p:sp>
      <p:sp>
        <p:nvSpPr>
          <p:cNvPr id="7" name="summary-v1">
            <a:extLst xmlns:a="http://schemas.openxmlformats.org/drawingml/2006/main">
              <a:ext uri="{FF2B5EF4-FFF2-40B4-BE49-F238E27FC236}">
                <a16:creationId xmlns:a16="http://schemas.microsoft.com/office/drawing/2014/main" id="{5F5B796C-6B03-4DF5-B6B3-34780A31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952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What is bothering you</a:t>
            </a:r>
          </a:p>
        </p:txBody>
      </p:sp>
      <p:sp>
        <p:nvSpPr>
          <p:cNvPr id="8" name="summary-l2">
            <a:extLst xmlns:a="http://schemas.openxmlformats.org/drawingml/2006/main">
              <a:ext uri="{FF2B5EF4-FFF2-40B4-BE49-F238E27FC236}">
                <a16:creationId xmlns:a16="http://schemas.microsoft.com/office/drawing/2014/main" id="{93113F72-7F46-43DC-BCA6-EB731153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TIMING · SEVERITY · OTHER SYMPTOMS</a:t>
            </a:r>
          </a:p>
        </p:txBody>
      </p:sp>
      <p:sp>
        <p:nvSpPr>
          <p:cNvPr id="9" name="summary-v2">
            <a:extLst xmlns:a="http://schemas.openxmlformats.org/drawingml/2006/main">
              <a:ext uri="{FF2B5EF4-FFF2-40B4-BE49-F238E27FC236}">
                <a16:creationId xmlns:a16="http://schemas.microsoft.com/office/drawing/2014/main" id="{00FA83B7-EC26-46A1-AE30-17BD30C3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The details the traveler shared</a:t>
            </a:r>
          </a:p>
        </p:txBody>
      </p:sp>
      <p:sp>
        <p:nvSpPr>
          <p:cNvPr id="10" name="summary-l3">
            <a:extLst xmlns:a="http://schemas.openxmlformats.org/drawingml/2006/main">
              <a:ext uri="{FF2B5EF4-FFF2-40B4-BE49-F238E27FC236}">
                <a16:creationId xmlns:a16="http://schemas.microsoft.com/office/drawing/2014/main" id="{A61B994D-6AFC-4B35-8676-7953909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MEDICINES · ALLERGIES · CONDITIONS</a:t>
            </a:r>
          </a:p>
        </p:txBody>
      </p:sp>
      <p:sp>
        <p:nvSpPr>
          <p:cNvPr id="11" name="summary-v3">
            <a:extLst xmlns:a="http://schemas.openxmlformats.org/drawingml/2006/main">
              <a:ext uri="{FF2B5EF4-FFF2-40B4-BE49-F238E27FC236}">
                <a16:creationId xmlns:a16="http://schemas.microsoft.com/office/drawing/2014/main" id="{0C4988A9-251A-4EF3-8FDC-A1BC36E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Included - or marked not provided</a:t>
            </a:r>
          </a:p>
        </p:txBody>
      </p:sp>
      <p:sp>
        <p:nvSpPr>
          <p:cNvPr id="12" name="summary-local-label">
            <a:extLst xmlns:a="http://schemas.openxmlformats.org/drawingml/2006/main">
              <a:ext uri="{FF2B5EF4-FFF2-40B4-BE49-F238E27FC236}">
                <a16:creationId xmlns:a16="http://schemas.microsoft.com/office/drawing/2014/main" id="{AAB65C91-8BFC-470E-AF38-A61B5BB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FOR THE CARE TEAM</a:t>
            </a:r>
          </a:p>
        </p:txBody>
      </p:sp>
      <p:sp>
        <p:nvSpPr>
          <p:cNvPr id="13" name="summary-local">
            <a:extLst xmlns:a="http://schemas.openxmlformats.org/drawingml/2006/main">
              <a:ext uri="{FF2B5EF4-FFF2-40B4-BE49-F238E27FC236}">
                <a16:creationId xmlns:a16="http://schemas.microsoft.com/office/drawing/2014/main" id="{916C4809-40CC-43FD-900B-8A997A1C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 formal version in the local language</a:t>
            </a:r>
          </a:p>
        </p:txBody>
      </p:sp>
      <p:sp>
        <p:nvSpPr>
          <p:cNvPr id="14" name="summary-user-label">
            <a:extLst xmlns:a="http://schemas.openxmlformats.org/drawingml/2006/main">
              <a:ext uri="{FF2B5EF4-FFF2-40B4-BE49-F238E27FC236}">
                <a16:creationId xmlns:a16="http://schemas.microsoft.com/office/drawing/2014/main" id="{D757A1FA-9AF6-4E3C-BF36-052A259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FOR THE TRAVELER</a:t>
            </a:r>
          </a:p>
        </p:txBody>
      </p:sp>
      <p:sp>
        <p:nvSpPr>
          <p:cNvPr id="15" name="summary-user">
            <a:extLst xmlns:a="http://schemas.openxmlformats.org/drawingml/2006/main">
              <a:ext uri="{FF2B5EF4-FFF2-40B4-BE49-F238E27FC236}">
                <a16:creationId xmlns:a16="http://schemas.microsoft.com/office/drawing/2014/main" id="{96E8A968-8BC7-4F5F-BC34-6A735137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 copy in their own language to review</a:t>
            </a:r>
          </a:p>
        </p:txBody>
      </p:sp>
    </p:spTree>
    <p:extLst>
      <p:ext uri="{BB962C8B-B14F-4D97-AF65-F5344CB8AC3E}">
        <p14:creationId xmlns:p14="http://schemas.microsoft.com/office/powerpoint/2010/main" val="1538541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A5C7C-E236-4A0B-8B89-D48870282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7bb1ff9684981">
            <a:extLst>
              <a:ext uri="{96DAC541-7B7A-43D3-8B79-37D633B846F1}">
                <asvg:svgBlip xmlns:asvg="http://schemas.microsoft.com/office/drawing/2016/SVG/main" r:embed="Ra054c2a5b31c4a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kicker-8">
            <a:extLst xmlns:a="http://schemas.openxmlformats.org/drawingml/2006/main">
              <a:ext uri="{FF2B5EF4-FFF2-40B4-BE49-F238E27FC236}">
                <a16:creationId xmlns:a16="http://schemas.microsoft.com/office/drawing/2014/main" id="{23A31AA5-7D22-4688-894A-05F25204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WELLABROAD IN A NUTSHELL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A32EFFE-601C-4051-84DD-21D56AC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 clearer path to care, wherever you are.</a:t>
            </a:r>
          </a:p>
        </p:txBody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345567A7-15BA-4063-9C23-77C752DB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4675A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16B31AC0-4CE7-4583-9AC7-F665E4C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4675A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6" name="summary-understand-label">
            <a:extLst xmlns:a="http://schemas.openxmlformats.org/drawingml/2006/main">
              <a:ext uri="{FF2B5EF4-FFF2-40B4-BE49-F238E27FC236}">
                <a16:creationId xmlns:a16="http://schemas.microsoft.com/office/drawing/2014/main" id="{8D0A9AAB-E338-4887-A886-64671753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UNDERSTAND</a:t>
            </a:r>
          </a:p>
        </p:txBody>
      </p:sp>
      <p:sp>
        <p:nvSpPr>
          <p:cNvPr id="7" name="summary-understand">
            <a:extLst xmlns:a="http://schemas.openxmlformats.org/drawingml/2006/main">
              <a:ext uri="{FF2B5EF4-FFF2-40B4-BE49-F238E27FC236}">
                <a16:creationId xmlns:a16="http://schemas.microsoft.com/office/drawing/2014/main" id="{238FD1F6-8013-4E74-802F-1A03B86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Make medical documents easier to read.</a:t>
            </a:r>
          </a:p>
        </p:txBody>
      </p:sp>
      <p:sp>
        <p:nvSpPr>
          <p:cNvPr id="8" name="summary-explain-label">
            <a:extLst xmlns:a="http://schemas.openxmlformats.org/drawingml/2006/main">
              <a:ext uri="{FF2B5EF4-FFF2-40B4-BE49-F238E27FC236}">
                <a16:creationId xmlns:a16="http://schemas.microsoft.com/office/drawing/2014/main" id="{1128F28F-7139-4701-A3CD-EC7B9D65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EXPLAIN</a:t>
            </a:r>
          </a:p>
        </p:txBody>
      </p:sp>
      <p:sp>
        <p:nvSpPr>
          <p:cNvPr id="9" name="summary-explain">
            <a:extLst xmlns:a="http://schemas.openxmlformats.org/drawingml/2006/main">
              <a:ext uri="{FF2B5EF4-FFF2-40B4-BE49-F238E27FC236}">
                <a16:creationId xmlns:a16="http://schemas.microsoft.com/office/drawing/2014/main" id="{5C4962AD-1946-4C10-AFB5-1D705F58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Put symptoms into words that travel across languages.</a:t>
            </a:r>
          </a:p>
        </p:txBody>
      </p:sp>
      <p:sp>
        <p:nvSpPr>
          <p:cNvPr id="10" name="summary-connect-label">
            <a:extLst xmlns:a="http://schemas.openxmlformats.org/drawingml/2006/main">
              <a:ext uri="{FF2B5EF4-FFF2-40B4-BE49-F238E27FC236}">
                <a16:creationId xmlns:a16="http://schemas.microsoft.com/office/drawing/2014/main" id="{FEA5BB14-3E0D-4B1E-A0FC-829F476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CONNECT</a:t>
            </a:r>
          </a:p>
        </p:txBody>
      </p:sp>
      <p:sp>
        <p:nvSpPr>
          <p:cNvPr id="11" name="summary-connect">
            <a:extLst xmlns:a="http://schemas.openxmlformats.org/drawingml/2006/main">
              <a:ext uri="{FF2B5EF4-FFF2-40B4-BE49-F238E27FC236}">
                <a16:creationId xmlns:a16="http://schemas.microsoft.com/office/drawing/2014/main" id="{79513E4A-975E-4F10-A3DD-6372D13D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Help travelers feel more prepared for a care conversation.</a:t>
            </a:r>
          </a:p>
        </p:txBody>
      </p:sp>
      <p:sp>
        <p:nvSpPr>
          <p:cNvPr id="12" name="summary-closing">
            <a:extLst xmlns:a="http://schemas.openxmlformats.org/drawingml/2006/main">
              <a:ext uri="{FF2B5EF4-FFF2-40B4-BE49-F238E27FC236}">
                <a16:creationId xmlns:a16="http://schemas.microsoft.com/office/drawing/2014/main" id="{05FA4E82-B422-4E85-989F-547BF295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Clearer understanding. More confident conversations. Care that feels closer to home.</a:t>
            </a:r>
          </a:p>
        </p:txBody>
      </p:sp>
    </p:spTree>
    <p:extLst>
      <p:ext uri="{BB962C8B-B14F-4D97-AF65-F5344CB8AC3E}">
        <p14:creationId xmlns:p14="http://schemas.microsoft.com/office/powerpoint/2010/main" val="197364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2FF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06509-C7EE-4B3D-B3AF-4885BB894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29acf8d684c77">
            <a:extLst>
              <a:ext uri="{96DAC541-7B7A-43D3-8B79-37D633B846F1}">
                <asvg:svgBlip xmlns:asvg="http://schemas.microsoft.com/office/drawing/2016/SVG/main" r:embed="R78b1b9747f904c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57200"/>
            <a:ext cx="361950" cy="376428"/>
          </a:xfrm>
          <a:prstGeom xmlns:a="http://schemas.openxmlformats.org/drawingml/2006/main" prst="rect">
            <a:avLst/>
          </a:prstGeom>
        </p:spPr>
      </p:pic>
      <p:sp>
        <p:nvSpPr>
          <p:cNvPr id="2" name="team-kicker">
            <a:extLst xmlns:a="http://schemas.openxmlformats.org/drawingml/2006/main">
              <a:ext uri="{FF2B5EF4-FFF2-40B4-BE49-F238E27FC236}">
                <a16:creationId xmlns:a16="http://schemas.microsoft.com/office/drawing/2014/main" id="{32730901-E131-4B4F-B3BF-40376C4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F6D56"/>
                </a:solidFill>
                <a:latin typeface="Inter"/>
                <a:ea typeface="Inter"/>
                <a:cs typeface="Inter"/>
              </a:rPr>
              <a:t>MEET THE TEAM</a:t>
            </a:r>
          </a:p>
        </p:txBody>
      </p:sp>
      <p:sp>
        <p:nvSpPr>
          <p:cNvPr id="3" name="team-title">
            <a:extLst xmlns:a="http://schemas.openxmlformats.org/drawingml/2006/main">
              <a:ext uri="{FF2B5EF4-FFF2-40B4-BE49-F238E27FC236}">
                <a16:creationId xmlns:a16="http://schemas.microsoft.com/office/drawing/2014/main" id="{8C747516-EC8E-4235-9885-3533F6D9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Built with care, for care abroad.</a:t>
            </a:r>
          </a:p>
        </p:txBody>
      </p:sp>
      <p:sp>
        <p:nvSpPr>
          <p:cNvPr id="4" name="team-member-1">
            <a:extLst xmlns:a="http://schemas.openxmlformats.org/drawingml/2006/main">
              <a:ext uri="{FF2B5EF4-FFF2-40B4-BE49-F238E27FC236}">
                <a16:creationId xmlns:a16="http://schemas.microsoft.com/office/drawing/2014/main" id="{6C66FDA4-9F2E-4610-974B-A6C75384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Ahlam Afrass</a:t>
            </a:r>
          </a:p>
        </p:txBody>
      </p:sp>
      <p:sp>
        <p:nvSpPr>
          <p:cNvPr id="5" name="team-link-1">
            <a:extLst xmlns:a="http://schemas.openxmlformats.org/drawingml/2006/main">
              <a:ext uri="{FF2B5EF4-FFF2-40B4-BE49-F238E27FC236}">
                <a16:creationId xmlns:a16="http://schemas.microsoft.com/office/drawing/2014/main" id="{36A6F3AE-C125-4EB3-B3C0-E94E11A8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2F6D56"/>
                </a:solidFill>
                <a:latin typeface="Inter"/>
                <a:ea typeface="Inter"/>
                <a:cs typeface="Inter"/>
              </a:rPr>
              <a:t>https://www.linkedin.com/in/ahlam-afrass/</a:t>
            </a:r>
          </a:p>
        </p:txBody>
      </p:sp>
      <p:sp>
        <p:nvSpPr>
          <p:cNvPr id="6" name="team-member-2">
            <a:extLst xmlns:a="http://schemas.openxmlformats.org/drawingml/2006/main">
              <a:ext uri="{FF2B5EF4-FFF2-40B4-BE49-F238E27FC236}">
                <a16:creationId xmlns:a16="http://schemas.microsoft.com/office/drawing/2014/main" id="{EBA1A6CB-0232-456A-8529-B84A2EF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Asiya Sohail</a:t>
            </a:r>
          </a:p>
        </p:txBody>
      </p:sp>
      <p:sp>
        <p:nvSpPr>
          <p:cNvPr id="7" name="team-link-2">
            <a:extLst xmlns:a="http://schemas.openxmlformats.org/drawingml/2006/main">
              <a:ext uri="{FF2B5EF4-FFF2-40B4-BE49-F238E27FC236}">
                <a16:creationId xmlns:a16="http://schemas.microsoft.com/office/drawing/2014/main" id="{46587F60-E879-4504-AFA2-0E37446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2F6D56"/>
                </a:solidFill>
                <a:latin typeface="Inter"/>
                <a:ea typeface="Inter"/>
                <a:cs typeface="Inter"/>
              </a:rPr>
              <a:t>https://www.linkedin.com/in/asiya-sohail/</a:t>
            </a:r>
          </a:p>
        </p:txBody>
      </p:sp>
      <p:sp>
        <p:nvSpPr>
          <p:cNvPr id="8" name="team-member-3">
            <a:extLst xmlns:a="http://schemas.openxmlformats.org/drawingml/2006/main">
              <a:ext uri="{FF2B5EF4-FFF2-40B4-BE49-F238E27FC236}">
                <a16:creationId xmlns:a16="http://schemas.microsoft.com/office/drawing/2014/main" id="{0D379DB4-039F-4324-B442-DEF51F2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Fakhir Khan</a:t>
            </a:r>
          </a:p>
        </p:txBody>
      </p:sp>
      <p:sp>
        <p:nvSpPr>
          <p:cNvPr id="9" name="team-link-3">
            <a:extLst xmlns:a="http://schemas.openxmlformats.org/drawingml/2006/main">
              <a:ext uri="{FF2B5EF4-FFF2-40B4-BE49-F238E27FC236}">
                <a16:creationId xmlns:a16="http://schemas.microsoft.com/office/drawing/2014/main" id="{85C4274E-2DE8-4091-A3C6-37BC0881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2F6D56"/>
                </a:solidFill>
                <a:latin typeface="Inter"/>
                <a:ea typeface="Inter"/>
                <a:cs typeface="Inter"/>
              </a:rPr>
              <a:t>https://www.linkedin.com/in/fakhir-khan-34ab822a5/</a:t>
            </a:r>
          </a:p>
        </p:txBody>
      </p:sp>
      <p:sp>
        <p:nvSpPr>
          <p:cNvPr id="10" name="team-member-4">
            <a:extLst xmlns:a="http://schemas.openxmlformats.org/drawingml/2006/main">
              <a:ext uri="{FF2B5EF4-FFF2-40B4-BE49-F238E27FC236}">
                <a16:creationId xmlns:a16="http://schemas.microsoft.com/office/drawing/2014/main" id="{A856EA81-AEF0-496E-9E44-54FA9FBA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02321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02321"/>
                </a:solidFill>
                <a:latin typeface="Inter"/>
                <a:ea typeface="Inter"/>
                <a:cs typeface="Inter"/>
              </a:rPr>
              <a:t>Abdul Moazzim</a:t>
            </a:r>
          </a:p>
        </p:txBody>
      </p:sp>
      <p:sp>
        <p:nvSpPr>
          <p:cNvPr id="11" name="team-link-4">
            <a:extLst xmlns:a="http://schemas.openxmlformats.org/drawingml/2006/main">
              <a:ext uri="{FF2B5EF4-FFF2-40B4-BE49-F238E27FC236}">
                <a16:creationId xmlns:a16="http://schemas.microsoft.com/office/drawing/2014/main" id="{27C8831A-9639-4B69-A182-CB009928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defPPr>
            <a:lvl1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1pPr>
            <a:lvl2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2pPr>
            <a:lvl3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3pPr>
            <a:lvl4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4pPr>
            <a:lvl5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5pPr>
            <a:lvl6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6pPr>
            <a:lvl7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7pPr>
            <a:lvl8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8pPr>
            <a:lvl9pPr algn="l"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2F6D56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2F6D56"/>
                </a:solidFill>
                <a:latin typeface="Inter"/>
                <a:ea typeface="Inter"/>
                <a:cs typeface="Inter"/>
              </a:rPr>
              <a:t>https://www.linkedin.com/in/abdulmoazzim/</a:t>
            </a:r>
          </a:p>
        </p:txBody>
      </p:sp>
      <p:sp>
        <p:nvSpPr>
          <p:cNvPr id="12" name="footer-9">
            <a:extLst xmlns:a="http://schemas.openxmlformats.org/drawingml/2006/main">
              <a:ext uri="{FF2B5EF4-FFF2-40B4-BE49-F238E27FC236}">
                <a16:creationId xmlns:a16="http://schemas.microsoft.com/office/drawing/2014/main" id="{8B6F05FE-A644-4F2B-BA94-6A74A9A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l"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4675A"/>
                </a:solidFill>
                <a:latin typeface="Inter"/>
                <a:ea typeface="Inter"/>
                <a:cs typeface="Inter"/>
              </a:rPr>
              <a:t>WELLABROAD  /  PROJECT STORY</a:t>
            </a:r>
          </a:p>
        </p:txBody>
      </p:sp>
      <p:sp>
        <p:nvSpPr>
          <p:cNvPr id="13" name="page-9">
            <a:extLst xmlns:a="http://schemas.openxmlformats.org/drawingml/2006/main">
              <a:ext uri="{FF2B5EF4-FFF2-40B4-BE49-F238E27FC236}">
                <a16:creationId xmlns:a16="http://schemas.microsoft.com/office/drawing/2014/main" id="{79359B15-46B1-46A1-9C5A-E828E0FD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defPPr>
            <a:lvl1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1pPr>
            <a:lvl2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2pPr>
            <a:lvl3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3pPr>
            <a:lvl4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4pPr>
            <a:lvl5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5pPr>
            <a:lvl6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6pPr>
            <a:lvl7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7pPr>
            <a:lvl8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8pPr>
            <a:lvl9pPr algn="r"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>
                <a:solidFill>
                  <a:srgbClr val="44675A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4675A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367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2026-10-18T09:38:34.6900000Z</dcterms:created>
  <dcterms:modified xsi:type="dcterms:W3CDTF">2026-10-18T09:38:34.6900000Z</dcterms:modified>
</coreProperties>
</file>